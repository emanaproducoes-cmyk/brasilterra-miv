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63840" y="0"/>
            <a:ext cx="914400" cy="3840480"/>
          </a:xfrm>
          <a:prstGeom prst="rect">
            <a:avLst/>
          </a:prstGeom>
          <a:solidFill>
            <a:srgbClr val="06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0"/>
            <a:ext cx="3136392" cy="1828800"/>
          </a:xfrm>
          <a:prstGeom prst="rect">
            <a:avLst/>
          </a:prstGeom>
          <a:solidFill>
            <a:srgbClr val="06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52560" y="2011680"/>
            <a:ext cx="3136392" cy="1828800"/>
          </a:xfrm>
          <a:prstGeom prst="rect">
            <a:avLst/>
          </a:prstGeom>
          <a:solidFill>
            <a:srgbClr val="0A3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0" y="4023360"/>
            <a:ext cx="4325112" cy="2834640"/>
          </a:xfrm>
          <a:prstGeom prst="rect">
            <a:avLst/>
          </a:prstGeom>
          <a:solidFill>
            <a:srgbClr val="062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EBF26"/>
                </a:solidFill>
                <a:latin typeface="Montserrat"/>
              </a:rPr>
              <a:t>APRESENTAÇÃO INSTITUCIONAL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ontserrat"/>
              </a:rPr>
              <a:t>Projetos que transformam</a:t>
            </a:r>
          </a:p>
          <a:p>
            <a:r>
              <a:rPr sz="3600" b="1">
                <a:solidFill>
                  <a:srgbClr val="FFFFFF"/>
                </a:solidFill>
                <a:latin typeface="Montserrat"/>
              </a:rPr>
              <a:t>ambição em crédito analisável.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AB4C8"/>
                </a:solidFill>
                <a:latin typeface="Source Sans 3"/>
              </a:rPr>
              <a:t>[Cliente] · [mês de ano]</a:t>
            </a:r>
          </a:p>
        </p:txBody>
      </p:sp>
      <p:pic>
        <p:nvPicPr>
          <p:cNvPr id="9" name="Picture 8" descr="BrasilTerra_horizontal_negativa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669280"/>
            <a:ext cx="2377440" cy="7011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B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EBF26"/>
                </a:solidFill>
                <a:latin typeface="Montserrat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7315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0" b="1">
                <a:solidFill>
                  <a:srgbClr val="FEBF26"/>
                </a:solidFill>
                <a:latin typeface="Montserrat"/>
              </a:rPr>
              <a:t>01.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4572000" cy="128016"/>
          </a:xfrm>
          <a:prstGeom prst="rect">
            <a:avLst/>
          </a:prstGeom>
          <a:solidFill>
            <a:srgbClr val="FE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548640" cy="54864"/>
          </a:xfrm>
          <a:prstGeom prst="rect">
            <a:avLst/>
          </a:prstGeom>
          <a:solidFill>
            <a:srgbClr val="FEB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3E9B"/>
                </a:solidFill>
                <a:latin typeface="Montserrat"/>
              </a:rPr>
              <a:t>01 · DIAGNÓSTICO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Montserrat"/>
              </a:rPr>
              <a:t>Título do slide em uma linha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62A33"/>
                </a:solidFill>
                <a:latin typeface="Source Sans 3"/>
              </a:rPr>
              <a:t>• Tópico curto, com no máximo duas linhas</a:t>
            </a:r>
          </a:p>
          <a:p>
            <a:r>
              <a:rPr sz="1800" b="0">
                <a:solidFill>
                  <a:srgbClr val="262A33"/>
                </a:solidFill>
                <a:latin typeface="Source Sans 3"/>
              </a:rPr>
              <a:t>• Números sempre com fonte e unidade</a:t>
            </a:r>
          </a:p>
          <a:p>
            <a:r>
              <a:rPr sz="1800" b="0">
                <a:solidFill>
                  <a:srgbClr val="262A33"/>
                </a:solidFill>
                <a:latin typeface="Source Sans 3"/>
              </a:rPr>
              <a:t>• Um destaque Amarelo Safra por slide</a:t>
            </a:r>
          </a:p>
        </p:txBody>
      </p:sp>
      <p:pic>
        <p:nvPicPr>
          <p:cNvPr id="6" name="Picture 5" descr="BrasilTerra_simbolo_fullcolor_512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5852160"/>
            <a:ext cx="4572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3E9B"/>
                </a:solidFill>
                <a:latin typeface="Montserrat"/>
              </a:rPr>
              <a:t>03 · RESUMO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0000"/>
                </a:solidFill>
                <a:latin typeface="Montserrat"/>
              </a:rPr>
              <a:t>O projeto em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2560320" cy="2011680"/>
          </a:xfrm>
          <a:prstGeom prst="rect">
            <a:avLst/>
          </a:prstGeom>
          <a:solidFill>
            <a:srgbClr val="031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EBF26"/>
                </a:solidFill>
                <a:latin typeface="Montserrat"/>
              </a:rPr>
              <a:t>00,0%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Source Sans 3"/>
              </a:rPr>
              <a:t>TIR estimada*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743200"/>
            <a:ext cx="2560320" cy="2011680"/>
          </a:xfrm>
          <a:prstGeom prst="rect">
            <a:avLst/>
          </a:prstGeom>
          <a:solidFill>
            <a:srgbClr val="031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EBF26"/>
                </a:solidFill>
                <a:latin typeface="Montserrat"/>
              </a:rPr>
              <a:t>0,0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Source Sans 3"/>
              </a:rPr>
              <a:t>anos de payback*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2560320" cy="2011680"/>
          </a:xfrm>
          <a:prstGeom prst="rect">
            <a:avLst/>
          </a:prstGeom>
          <a:solidFill>
            <a:srgbClr val="031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EBF26"/>
                </a:solidFill>
                <a:latin typeface="Montserrat"/>
              </a:rPr>
              <a:t>0,00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Source Sans 3"/>
              </a:rPr>
              <a:t>ICSD médio*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2743200"/>
            <a:ext cx="2560320" cy="2011680"/>
          </a:xfrm>
          <a:prstGeom prst="rect">
            <a:avLst/>
          </a:prstGeom>
          <a:solidFill>
            <a:srgbClr val="031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30175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EBF26"/>
                </a:solidFill>
                <a:latin typeface="Montserrat"/>
              </a:rP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023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Source Sans 3"/>
              </a:rPr>
              <a:t>empregos diretos*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B5260"/>
                </a:solidFill>
                <a:latin typeface="Source Sans 3"/>
              </a:rPr>
              <a:t>*Valores ilustrativos. A aprovação do crédito é de responsabilidade exclusiva da instituição financeira.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B4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silTerra_horizontal_negativa_1024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377440"/>
            <a:ext cx="4572000" cy="13483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8D0DE"/>
                </a:solidFill>
                <a:latin typeface="Source Sans 3"/>
              </a:rPr>
              <a:t>brasilterra.com.br · [telefone]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